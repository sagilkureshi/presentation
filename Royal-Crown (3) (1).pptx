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Prata" panose="020B0604020202020204" charset="0"/>
      <p:regular r:id="rId13"/>
    </p:embeddedFont>
    <p:embeddedFont>
      <p:font typeface="Raleway" pitchFamily="2" charset="0"/>
      <p:regular r:id="rId14"/>
    </p:embeddedFont>
    <p:embeddedFont>
      <p:font typeface="Raleway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4" d="100"/>
          <a:sy n="74" d="100"/>
        </p:scale>
        <p:origin x="1060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107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svg"/><Relationship Id="rId3" Type="http://schemas.openxmlformats.org/officeDocument/2006/relationships/image" Target="../media/image15.png"/><Relationship Id="rId7" Type="http://schemas.openxmlformats.org/officeDocument/2006/relationships/image" Target="../media/image19.sv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jp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13" Type="http://schemas.openxmlformats.org/officeDocument/2006/relationships/image" Target="../media/image44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sv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10" Type="http://schemas.openxmlformats.org/officeDocument/2006/relationships/image" Target="../media/image41.svg"/><Relationship Id="rId4" Type="http://schemas.openxmlformats.org/officeDocument/2006/relationships/image" Target="../media/image35.svg"/><Relationship Id="rId9" Type="http://schemas.openxmlformats.org/officeDocument/2006/relationships/image" Target="../media/image40.png"/><Relationship Id="rId14" Type="http://schemas.openxmlformats.org/officeDocument/2006/relationships/image" Target="../media/image4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svg"/><Relationship Id="rId18" Type="http://schemas.openxmlformats.org/officeDocument/2006/relationships/image" Target="../media/image63.png"/><Relationship Id="rId3" Type="http://schemas.openxmlformats.org/officeDocument/2006/relationships/image" Target="../media/image48.jpg"/><Relationship Id="rId21" Type="http://schemas.openxmlformats.org/officeDocument/2006/relationships/image" Target="../media/image66.svg"/><Relationship Id="rId7" Type="http://schemas.openxmlformats.org/officeDocument/2006/relationships/image" Target="../media/image52.svg"/><Relationship Id="rId12" Type="http://schemas.openxmlformats.org/officeDocument/2006/relationships/image" Target="../media/image57.png"/><Relationship Id="rId17" Type="http://schemas.openxmlformats.org/officeDocument/2006/relationships/image" Target="../media/image62.svg"/><Relationship Id="rId25" Type="http://schemas.openxmlformats.org/officeDocument/2006/relationships/image" Target="../media/image70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61.png"/><Relationship Id="rId20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56.svg"/><Relationship Id="rId24" Type="http://schemas.openxmlformats.org/officeDocument/2006/relationships/image" Target="../media/image69.png"/><Relationship Id="rId5" Type="http://schemas.openxmlformats.org/officeDocument/2006/relationships/image" Target="../media/image50.svg"/><Relationship Id="rId15" Type="http://schemas.openxmlformats.org/officeDocument/2006/relationships/image" Target="../media/image60.svg"/><Relationship Id="rId23" Type="http://schemas.openxmlformats.org/officeDocument/2006/relationships/image" Target="../media/image68.svg"/><Relationship Id="rId10" Type="http://schemas.openxmlformats.org/officeDocument/2006/relationships/image" Target="../media/image55.png"/><Relationship Id="rId19" Type="http://schemas.openxmlformats.org/officeDocument/2006/relationships/image" Target="../media/image64.svg"/><Relationship Id="rId4" Type="http://schemas.openxmlformats.org/officeDocument/2006/relationships/image" Target="../media/image49.png"/><Relationship Id="rId9" Type="http://schemas.openxmlformats.org/officeDocument/2006/relationships/image" Target="../media/image54.svg"/><Relationship Id="rId14" Type="http://schemas.openxmlformats.org/officeDocument/2006/relationships/image" Target="../media/image59.png"/><Relationship Id="rId22" Type="http://schemas.openxmlformats.org/officeDocument/2006/relationships/image" Target="../media/image6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svg"/><Relationship Id="rId13" Type="http://schemas.openxmlformats.org/officeDocument/2006/relationships/image" Target="../media/image82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sv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0" Type="http://schemas.openxmlformats.org/officeDocument/2006/relationships/image" Target="../media/image79.svg"/><Relationship Id="rId4" Type="http://schemas.openxmlformats.org/officeDocument/2006/relationships/image" Target="../media/image73.svg"/><Relationship Id="rId9" Type="http://schemas.openxmlformats.org/officeDocument/2006/relationships/image" Target="../media/image78.png"/><Relationship Id="rId14" Type="http://schemas.openxmlformats.org/officeDocument/2006/relationships/image" Target="../media/image83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39850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Royal Crown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67519" y="2175421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81C9E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E-Commerce Platform for Luxury Watches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544366"/>
            <a:ext cx="8151763" cy="14288"/>
          </a:xfrm>
          <a:prstGeom prst="roundRect">
            <a:avLst>
              <a:gd name="adj" fmla="val 59998"/>
            </a:avLst>
          </a:prstGeom>
          <a:solidFill>
            <a:srgbClr val="CFCBBF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2729136"/>
            <a:ext cx="8151763" cy="87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Sagil Kureshi | BCA Semester 5</a:t>
            </a:r>
            <a:endParaRPr lang="en-US" sz="95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Guide: </a:t>
            </a:r>
            <a:r>
              <a:rPr lang="en-US" sz="9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Prof. Nilesh Parghi</a:t>
            </a:r>
            <a:endParaRPr lang="en-US" sz="95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Kamani Science College &amp; Prataprai Arts College, Amreli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2086" y="876076"/>
            <a:ext cx="3429000" cy="3429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838349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1411932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81C9E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Royal Crown</a:t>
            </a: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is a premium online e-commerce platform designed exclusively for luxury watch enthusiasts — bringing the finest timepieces to discerning customers through a seamless digital experience.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496119" y="2146846"/>
            <a:ext cx="2299395" cy="1116360"/>
          </a:xfrm>
          <a:prstGeom prst="roundRect">
            <a:avLst>
              <a:gd name="adj" fmla="val 1667"/>
            </a:avLst>
          </a:prstGeom>
          <a:solidFill>
            <a:srgbClr val="3A3B3C"/>
          </a:solidFill>
          <a:ln/>
        </p:spPr>
      </p:sp>
      <p:sp>
        <p:nvSpPr>
          <p:cNvPr id="6" name="Text 3"/>
          <p:cNvSpPr/>
          <p:nvPr/>
        </p:nvSpPr>
        <p:spPr>
          <a:xfrm>
            <a:off x="620092" y="2270820"/>
            <a:ext cx="2051447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🛍️</a:t>
            </a: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Browse &amp; Buy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0092" y="2543845"/>
            <a:ext cx="205144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Customers can explore, search, and purchase premium watches from top global brands with ease.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919487" y="2146846"/>
            <a:ext cx="2299395" cy="1116360"/>
          </a:xfrm>
          <a:prstGeom prst="roundRect">
            <a:avLst>
              <a:gd name="adj" fmla="val 1667"/>
            </a:avLst>
          </a:prstGeom>
          <a:solidFill>
            <a:srgbClr val="3A3B3C"/>
          </a:solidFill>
          <a:ln/>
        </p:spPr>
      </p:sp>
      <p:sp>
        <p:nvSpPr>
          <p:cNvPr id="9" name="Text 6"/>
          <p:cNvSpPr/>
          <p:nvPr/>
        </p:nvSpPr>
        <p:spPr>
          <a:xfrm>
            <a:off x="3043461" y="2270820"/>
            <a:ext cx="2051447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🔐</a:t>
            </a: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Secure Access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043461" y="2543845"/>
            <a:ext cx="205144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Dedicated user registration and login system ensures a safe and personalized shopping experience.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96119" y="3387179"/>
            <a:ext cx="4722763" cy="917897"/>
          </a:xfrm>
          <a:prstGeom prst="roundRect">
            <a:avLst>
              <a:gd name="adj" fmla="val 2027"/>
            </a:avLst>
          </a:prstGeom>
          <a:solidFill>
            <a:srgbClr val="3A3B3C"/>
          </a:solidFill>
          <a:ln/>
        </p:spPr>
      </p:sp>
      <p:sp>
        <p:nvSpPr>
          <p:cNvPr id="12" name="Text 9"/>
          <p:cNvSpPr/>
          <p:nvPr/>
        </p:nvSpPr>
        <p:spPr>
          <a:xfrm>
            <a:off x="620092" y="3511153"/>
            <a:ext cx="4474815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⚙️</a:t>
            </a: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Admin Control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0092" y="3784178"/>
            <a:ext cx="447481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Administrators can manage the full product catalog and monitor all customer orders from a central dashboard.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92055" y="0"/>
            <a:ext cx="3801145" cy="50720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92348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User Module</a:t>
            </a:r>
            <a:endParaRPr lang="en-US" sz="2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1318617"/>
            <a:ext cx="123974" cy="12397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96119" y="1462385"/>
            <a:ext cx="2299395" cy="14288"/>
          </a:xfrm>
          <a:prstGeom prst="rect">
            <a:avLst/>
          </a:prstGeom>
          <a:solidFill>
            <a:srgbClr val="D2AC47"/>
          </a:solidFill>
          <a:ln/>
        </p:spPr>
      </p:sp>
      <p:sp>
        <p:nvSpPr>
          <p:cNvPr id="6" name="Text 2"/>
          <p:cNvSpPr/>
          <p:nvPr/>
        </p:nvSpPr>
        <p:spPr>
          <a:xfrm>
            <a:off x="496119" y="1552947"/>
            <a:ext cx="22993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Registration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96119" y="1821210"/>
            <a:ext cx="22993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Create a new account to access the platform.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19487" y="1318617"/>
            <a:ext cx="123974" cy="12397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2919487" y="1462385"/>
            <a:ext cx="2299395" cy="14288"/>
          </a:xfrm>
          <a:prstGeom prst="rect">
            <a:avLst/>
          </a:prstGeom>
          <a:solidFill>
            <a:srgbClr val="D2AC47"/>
          </a:solidFill>
          <a:ln/>
        </p:spPr>
      </p:sp>
      <p:sp>
        <p:nvSpPr>
          <p:cNvPr id="10" name="Text 5"/>
          <p:cNvSpPr/>
          <p:nvPr/>
        </p:nvSpPr>
        <p:spPr>
          <a:xfrm>
            <a:off x="2919487" y="1552947"/>
            <a:ext cx="22993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Login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919487" y="1821210"/>
            <a:ext cx="22993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Secure authentication for returning customers.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119" y="2463031"/>
            <a:ext cx="123974" cy="123974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96119" y="2619226"/>
            <a:ext cx="2299395" cy="14288"/>
          </a:xfrm>
          <a:prstGeom prst="rect">
            <a:avLst/>
          </a:prstGeom>
          <a:solidFill>
            <a:srgbClr val="D2AC47"/>
          </a:solidFill>
          <a:ln/>
        </p:spPr>
      </p:sp>
      <p:sp>
        <p:nvSpPr>
          <p:cNvPr id="14" name="Text 8"/>
          <p:cNvSpPr/>
          <p:nvPr/>
        </p:nvSpPr>
        <p:spPr>
          <a:xfrm>
            <a:off x="496119" y="2722141"/>
            <a:ext cx="22993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Browse &amp; Product Details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96119" y="2990404"/>
            <a:ext cx="22993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Explore the full catalog with detailed watch pages.</a:t>
            </a:r>
            <a:endParaRPr lang="en-US" sz="9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19487" y="2463031"/>
            <a:ext cx="123974" cy="123974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2919487" y="2619226"/>
            <a:ext cx="2299395" cy="14288"/>
          </a:xfrm>
          <a:prstGeom prst="rect">
            <a:avLst/>
          </a:prstGeom>
          <a:solidFill>
            <a:srgbClr val="D2AC47"/>
          </a:solidFill>
          <a:ln/>
        </p:spPr>
      </p:sp>
      <p:sp>
        <p:nvSpPr>
          <p:cNvPr id="18" name="Text 11"/>
          <p:cNvSpPr/>
          <p:nvPr/>
        </p:nvSpPr>
        <p:spPr>
          <a:xfrm>
            <a:off x="2919487" y="2722141"/>
            <a:ext cx="22993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Shopping Cart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2919487" y="2990404"/>
            <a:ext cx="22993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Add items and manage selections before checkout.</a:t>
            </a:r>
            <a:endParaRPr lang="en-US" sz="9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96119" y="3607445"/>
            <a:ext cx="123974" cy="123974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496119" y="3775993"/>
            <a:ext cx="4722763" cy="14288"/>
          </a:xfrm>
          <a:prstGeom prst="rect">
            <a:avLst/>
          </a:prstGeom>
          <a:solidFill>
            <a:srgbClr val="D2AC47"/>
          </a:solidFill>
          <a:ln/>
        </p:spPr>
      </p:sp>
      <p:sp>
        <p:nvSpPr>
          <p:cNvPr id="22" name="Text 14"/>
          <p:cNvSpPr/>
          <p:nvPr/>
        </p:nvSpPr>
        <p:spPr>
          <a:xfrm>
            <a:off x="496119" y="3891335"/>
            <a:ext cx="4722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Place Orders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496119" y="4159597"/>
            <a:ext cx="4722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Complete purchases securely and track orders.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75943" y="108405"/>
            <a:ext cx="3868057" cy="47541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92348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Admin Module</a:t>
            </a:r>
            <a:endParaRPr lang="en-US" sz="2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1318617"/>
            <a:ext cx="123974" cy="12397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96119" y="1462385"/>
            <a:ext cx="2299395" cy="14288"/>
          </a:xfrm>
          <a:prstGeom prst="rect">
            <a:avLst/>
          </a:prstGeom>
          <a:solidFill>
            <a:srgbClr val="D2AC47"/>
          </a:solidFill>
          <a:ln/>
        </p:spPr>
      </p:sp>
      <p:sp>
        <p:nvSpPr>
          <p:cNvPr id="6" name="Text 2"/>
          <p:cNvSpPr/>
          <p:nvPr/>
        </p:nvSpPr>
        <p:spPr>
          <a:xfrm>
            <a:off x="496119" y="1552947"/>
            <a:ext cx="22993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Admin Login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96119" y="1821210"/>
            <a:ext cx="22993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Secure admin-only authentication portal.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19487" y="1318617"/>
            <a:ext cx="123974" cy="12397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2919487" y="1462385"/>
            <a:ext cx="2299395" cy="14288"/>
          </a:xfrm>
          <a:prstGeom prst="rect">
            <a:avLst/>
          </a:prstGeom>
          <a:solidFill>
            <a:srgbClr val="D2AC47"/>
          </a:solidFill>
          <a:ln/>
        </p:spPr>
      </p:sp>
      <p:sp>
        <p:nvSpPr>
          <p:cNvPr id="10" name="Text 5"/>
          <p:cNvSpPr/>
          <p:nvPr/>
        </p:nvSpPr>
        <p:spPr>
          <a:xfrm>
            <a:off x="2919487" y="1552947"/>
            <a:ext cx="22993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919487" y="1821210"/>
            <a:ext cx="22993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Overview of sales, products, and orders at a glance.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119" y="2463031"/>
            <a:ext cx="123974" cy="123974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96119" y="2619226"/>
            <a:ext cx="2299395" cy="14288"/>
          </a:xfrm>
          <a:prstGeom prst="rect">
            <a:avLst/>
          </a:prstGeom>
          <a:solidFill>
            <a:srgbClr val="D2AC47"/>
          </a:solidFill>
          <a:ln/>
        </p:spPr>
      </p:sp>
      <p:sp>
        <p:nvSpPr>
          <p:cNvPr id="14" name="Text 8"/>
          <p:cNvSpPr/>
          <p:nvPr/>
        </p:nvSpPr>
        <p:spPr>
          <a:xfrm>
            <a:off x="496119" y="2722141"/>
            <a:ext cx="22993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Add Product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96119" y="2990404"/>
            <a:ext cx="22993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Upload new watches with images, price, and details.</a:t>
            </a:r>
            <a:endParaRPr lang="en-US" sz="9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19487" y="2463031"/>
            <a:ext cx="123974" cy="123974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2919487" y="2619226"/>
            <a:ext cx="2299395" cy="14288"/>
          </a:xfrm>
          <a:prstGeom prst="rect">
            <a:avLst/>
          </a:prstGeom>
          <a:solidFill>
            <a:srgbClr val="D2AC47"/>
          </a:solidFill>
          <a:ln/>
        </p:spPr>
      </p:sp>
      <p:sp>
        <p:nvSpPr>
          <p:cNvPr id="18" name="Text 11"/>
          <p:cNvSpPr/>
          <p:nvPr/>
        </p:nvSpPr>
        <p:spPr>
          <a:xfrm>
            <a:off x="2919487" y="2722141"/>
            <a:ext cx="22993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Manage Products &amp; Orders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2919487" y="2990404"/>
            <a:ext cx="22993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Edit, delete, and update listings; track all orders.</a:t>
            </a:r>
            <a:endParaRPr lang="en-US" sz="9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96119" y="3607445"/>
            <a:ext cx="123974" cy="123974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496119" y="3775993"/>
            <a:ext cx="4722763" cy="14288"/>
          </a:xfrm>
          <a:prstGeom prst="rect">
            <a:avLst/>
          </a:prstGeom>
          <a:solidFill>
            <a:srgbClr val="D2AC47"/>
          </a:solidFill>
          <a:ln/>
        </p:spPr>
      </p:sp>
      <p:sp>
        <p:nvSpPr>
          <p:cNvPr id="22" name="Text 14"/>
          <p:cNvSpPr/>
          <p:nvPr/>
        </p:nvSpPr>
        <p:spPr>
          <a:xfrm>
            <a:off x="496119" y="3891335"/>
            <a:ext cx="4722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Logout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496119" y="4159597"/>
            <a:ext cx="4722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Secure session termination for admin safety.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94482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Watch Collection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730053"/>
            <a:ext cx="1188541" cy="188565"/>
          </a:xfrm>
          <a:prstGeom prst="roundRect">
            <a:avLst>
              <a:gd name="adj" fmla="val 7894"/>
            </a:avLst>
          </a:prstGeom>
          <a:solidFill>
            <a:srgbClr val="443D09"/>
          </a:solidFill>
          <a:ln/>
        </p:spPr>
      </p:sp>
      <p:sp>
        <p:nvSpPr>
          <p:cNvPr id="4" name="Shape 2"/>
          <p:cNvSpPr/>
          <p:nvPr/>
        </p:nvSpPr>
        <p:spPr>
          <a:xfrm>
            <a:off x="570533" y="1774701"/>
            <a:ext cx="99194" cy="99194"/>
          </a:xfrm>
          <a:prstGeom prst="rect">
            <a:avLst/>
          </a:prstGeom>
          <a:solidFill>
            <a:srgbClr val="CFCBBF"/>
          </a:solidFill>
          <a:ln/>
        </p:spPr>
      </p:sp>
      <p:sp>
        <p:nvSpPr>
          <p:cNvPr id="5" name="Text 3"/>
          <p:cNvSpPr/>
          <p:nvPr/>
        </p:nvSpPr>
        <p:spPr>
          <a:xfrm>
            <a:off x="719286" y="1767260"/>
            <a:ext cx="1348160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PREMIUM BRANDS</a:t>
            </a:r>
            <a:endParaRPr lang="en-US" sz="750" dirty="0"/>
          </a:p>
        </p:txBody>
      </p:sp>
      <p:pic>
        <p:nvPicPr>
          <p:cNvPr id="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6119" y="2152719"/>
            <a:ext cx="845493" cy="4190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6119" y="2735684"/>
            <a:ext cx="192166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Rolex</a:t>
            </a:r>
            <a:endParaRPr lang="en-US" sz="1200" dirty="0"/>
          </a:p>
        </p:txBody>
      </p:sp>
      <p:pic>
        <p:nvPicPr>
          <p:cNvPr id="8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72792" y="2095686"/>
            <a:ext cx="845493" cy="4474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72792" y="2735684"/>
            <a:ext cx="192166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Omega</a:t>
            </a:r>
            <a:endParaRPr lang="en-US" sz="1200" dirty="0"/>
          </a:p>
        </p:txBody>
      </p:sp>
      <p:pic>
        <p:nvPicPr>
          <p:cNvPr id="10" name="Imag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649465" y="2082262"/>
            <a:ext cx="845493" cy="4743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49465" y="2735684"/>
            <a:ext cx="192166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Patek Philippe</a:t>
            </a:r>
            <a:endParaRPr lang="en-US" sz="1200" dirty="0"/>
          </a:p>
        </p:txBody>
      </p:sp>
      <p:pic>
        <p:nvPicPr>
          <p:cNvPr id="12" name="Image 3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741288" y="2058144"/>
            <a:ext cx="602926" cy="52253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26138" y="2735684"/>
            <a:ext cx="192174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TAG Heuer</a:t>
            </a:r>
            <a:endParaRPr lang="en-US" sz="1200" dirty="0"/>
          </a:p>
        </p:txBody>
      </p:sp>
      <p:pic>
        <p:nvPicPr>
          <p:cNvPr id="14" name="Image 4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96119" y="3201673"/>
            <a:ext cx="845493" cy="4743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96119" y="3855095"/>
            <a:ext cx="192166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Longines</a:t>
            </a:r>
            <a:endParaRPr lang="en-US" sz="1200" dirty="0"/>
          </a:p>
        </p:txBody>
      </p:sp>
      <p:pic>
        <p:nvPicPr>
          <p:cNvPr id="16" name="Image 5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572792" y="3201673"/>
            <a:ext cx="845493" cy="4743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2572792" y="3855095"/>
            <a:ext cx="192166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Tissot</a:t>
            </a:r>
            <a:endParaRPr lang="en-US" sz="1200" dirty="0"/>
          </a:p>
        </p:txBody>
      </p:sp>
      <p:pic>
        <p:nvPicPr>
          <p:cNvPr id="18" name="Image 6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649464" y="3144498"/>
            <a:ext cx="709548" cy="522536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4649465" y="3855095"/>
            <a:ext cx="192166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Rado</a:t>
            </a:r>
            <a:endParaRPr lang="en-US" sz="1200" dirty="0"/>
          </a:p>
        </p:txBody>
      </p:sp>
      <p:pic>
        <p:nvPicPr>
          <p:cNvPr id="20" name="Image 7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726137" y="3201673"/>
            <a:ext cx="522536" cy="522536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6726138" y="3855095"/>
            <a:ext cx="192174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Seiko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63712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Watch Categories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999283"/>
            <a:ext cx="2634555" cy="82822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38982" y="2110904"/>
            <a:ext cx="148828" cy="1488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4380" y="2495401"/>
            <a:ext cx="235803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Luxury Watches</a:t>
            </a:r>
            <a:endParaRPr lang="en-US" sz="12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4648" y="1999283"/>
            <a:ext cx="2634630" cy="828229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97512" y="2110904"/>
            <a:ext cx="148828" cy="148828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3392909" y="2495401"/>
            <a:ext cx="235810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Classic Watches</a:t>
            </a:r>
            <a:endParaRPr lang="en-US" sz="1200" dirty="0"/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13252" y="1999283"/>
            <a:ext cx="2634555" cy="828229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56115" y="2110904"/>
            <a:ext cx="148828" cy="148828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6151513" y="2495401"/>
            <a:ext cx="235803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Sports Watches</a:t>
            </a:r>
            <a:endParaRPr lang="en-US" sz="120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6119" y="2951485"/>
            <a:ext cx="4013820" cy="828229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428577" y="3063106"/>
            <a:ext cx="148828" cy="148828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634380" y="3447604"/>
            <a:ext cx="373729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Chronograph Watches</a:t>
            </a:r>
            <a:endParaRPr lang="en-US" sz="1200" dirty="0"/>
          </a:p>
        </p:txBody>
      </p:sp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33913" y="2951485"/>
            <a:ext cx="4013895" cy="828229"/>
          </a:xfrm>
          <a:prstGeom prst="rect">
            <a:avLst/>
          </a:prstGeom>
        </p:spPr>
      </p:pic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66446" y="3063106"/>
            <a:ext cx="148828" cy="148828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>
            <a:off x="4772174" y="3447604"/>
            <a:ext cx="373737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Limited Edition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7894" y="539146"/>
            <a:ext cx="3574479" cy="41047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60772"/>
            <a:ext cx="4722763" cy="375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Technology Stack</a:t>
            </a:r>
            <a:endParaRPr lang="en-US" sz="23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1010841"/>
            <a:ext cx="180231" cy="18023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6119" y="1307455"/>
            <a:ext cx="1477268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HTML5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496119" y="1565002"/>
            <a:ext cx="1477268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Markup</a:t>
            </a:r>
            <a:endParaRPr lang="en-US" sz="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18866" y="1010841"/>
            <a:ext cx="180231" cy="18023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18866" y="1307455"/>
            <a:ext cx="1477268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CSS3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2118866" y="1565002"/>
            <a:ext cx="1477268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Styling</a:t>
            </a:r>
            <a:endParaRPr lang="en-US" sz="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41613" y="1010841"/>
            <a:ext cx="180231" cy="18023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741613" y="1307455"/>
            <a:ext cx="1477268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JavaScript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3741613" y="1565002"/>
            <a:ext cx="1477268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Interactivity</a:t>
            </a:r>
            <a:endParaRPr lang="en-US" sz="9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6119" y="1987004"/>
            <a:ext cx="180231" cy="18023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96119" y="2283619"/>
            <a:ext cx="1477268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Bootstrap</a:t>
            </a:r>
            <a:endParaRPr lang="en-US" sz="1150" dirty="0"/>
          </a:p>
        </p:txBody>
      </p:sp>
      <p:sp>
        <p:nvSpPr>
          <p:cNvPr id="15" name="Text 8"/>
          <p:cNvSpPr/>
          <p:nvPr/>
        </p:nvSpPr>
        <p:spPr>
          <a:xfrm>
            <a:off x="496119" y="2541166"/>
            <a:ext cx="1477268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Responsive UI</a:t>
            </a:r>
            <a:endParaRPr lang="en-US" sz="9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118866" y="1987004"/>
            <a:ext cx="180231" cy="180231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2118866" y="2283619"/>
            <a:ext cx="1477268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Node.js</a:t>
            </a:r>
            <a:endParaRPr lang="en-US" sz="1150" dirty="0"/>
          </a:p>
        </p:txBody>
      </p:sp>
      <p:sp>
        <p:nvSpPr>
          <p:cNvPr id="18" name="Text 10"/>
          <p:cNvSpPr/>
          <p:nvPr/>
        </p:nvSpPr>
        <p:spPr>
          <a:xfrm>
            <a:off x="2118866" y="2541166"/>
            <a:ext cx="1477268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Runtime</a:t>
            </a:r>
            <a:endParaRPr lang="en-US" sz="9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741613" y="1987004"/>
            <a:ext cx="180231" cy="180231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3741613" y="2283619"/>
            <a:ext cx="1477268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Express.js</a:t>
            </a:r>
            <a:endParaRPr lang="en-US" sz="1150" dirty="0"/>
          </a:p>
        </p:txBody>
      </p:sp>
      <p:sp>
        <p:nvSpPr>
          <p:cNvPr id="21" name="Text 12"/>
          <p:cNvSpPr/>
          <p:nvPr/>
        </p:nvSpPr>
        <p:spPr>
          <a:xfrm>
            <a:off x="3741613" y="2541166"/>
            <a:ext cx="1477268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Framework</a:t>
            </a:r>
            <a:endParaRPr lang="en-US" sz="9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96119" y="2963168"/>
            <a:ext cx="180231" cy="180231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496119" y="3259782"/>
            <a:ext cx="1477268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EJS</a:t>
            </a:r>
            <a:endParaRPr lang="en-US" sz="1150" dirty="0"/>
          </a:p>
        </p:txBody>
      </p:sp>
      <p:sp>
        <p:nvSpPr>
          <p:cNvPr id="24" name="Text 14"/>
          <p:cNvSpPr/>
          <p:nvPr/>
        </p:nvSpPr>
        <p:spPr>
          <a:xfrm>
            <a:off x="496119" y="3517329"/>
            <a:ext cx="1477268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Templating</a:t>
            </a:r>
            <a:endParaRPr lang="en-US" sz="9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118866" y="2963168"/>
            <a:ext cx="180231" cy="180231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2118866" y="3259782"/>
            <a:ext cx="1477268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MongoDB Atlas</a:t>
            </a:r>
            <a:endParaRPr lang="en-US" sz="1150" dirty="0"/>
          </a:p>
        </p:txBody>
      </p:sp>
      <p:sp>
        <p:nvSpPr>
          <p:cNvPr id="27" name="Text 16"/>
          <p:cNvSpPr/>
          <p:nvPr/>
        </p:nvSpPr>
        <p:spPr>
          <a:xfrm>
            <a:off x="2118866" y="3517329"/>
            <a:ext cx="1477268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NoSQL Cloud</a:t>
            </a:r>
            <a:endParaRPr lang="en-US" sz="9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741613" y="2963168"/>
            <a:ext cx="180231" cy="180231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3741613" y="3259782"/>
            <a:ext cx="1477268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VS Code</a:t>
            </a:r>
            <a:endParaRPr lang="en-US" sz="1150" dirty="0"/>
          </a:p>
        </p:txBody>
      </p:sp>
      <p:sp>
        <p:nvSpPr>
          <p:cNvPr id="30" name="Text 18"/>
          <p:cNvSpPr/>
          <p:nvPr/>
        </p:nvSpPr>
        <p:spPr>
          <a:xfrm>
            <a:off x="3741613" y="3517329"/>
            <a:ext cx="1477268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Editor</a:t>
            </a:r>
            <a:endParaRPr lang="en-US" sz="900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96119" y="3939332"/>
            <a:ext cx="180231" cy="180231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496119" y="4235946"/>
            <a:ext cx="1477268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Git &amp; GitHub</a:t>
            </a:r>
            <a:endParaRPr lang="en-US" sz="1150" dirty="0"/>
          </a:p>
        </p:txBody>
      </p:sp>
      <p:sp>
        <p:nvSpPr>
          <p:cNvPr id="33" name="Text 20"/>
          <p:cNvSpPr/>
          <p:nvPr/>
        </p:nvSpPr>
        <p:spPr>
          <a:xfrm>
            <a:off x="496119" y="4493493"/>
            <a:ext cx="1477268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Version Control</a:t>
            </a:r>
            <a:endParaRPr lang="en-US" sz="900" dirty="0"/>
          </a:p>
        </p:txBody>
      </p:sp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118866" y="3939332"/>
            <a:ext cx="180231" cy="180231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2118866" y="4235946"/>
            <a:ext cx="1477268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MongoDB Compass</a:t>
            </a:r>
            <a:endParaRPr lang="en-US" sz="1150" dirty="0"/>
          </a:p>
        </p:txBody>
      </p:sp>
      <p:sp>
        <p:nvSpPr>
          <p:cNvPr id="36" name="Text 22"/>
          <p:cNvSpPr/>
          <p:nvPr/>
        </p:nvSpPr>
        <p:spPr>
          <a:xfrm>
            <a:off x="2118866" y="4493493"/>
            <a:ext cx="1477268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GUI Tool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6844"/>
            <a:ext cx="8151763" cy="296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System Architecture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496119" y="789012"/>
            <a:ext cx="8608963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End-to-end flow from user interaction to data storage — a clean, layered MVC-inspired architecture powering Royal Crown.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004888"/>
            <a:ext cx="8151763" cy="35758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966551" y="3509079"/>
            <a:ext cx="1232034" cy="22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Frontend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966551" y="3792424"/>
            <a:ext cx="1232034" cy="467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HTML5, CSS3, Bootstrap, JavaScript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880432" y="3664845"/>
            <a:ext cx="1232034" cy="22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Database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80432" y="3948190"/>
            <a:ext cx="1232034" cy="311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MongoDB Atlas for storage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52751" y="1326272"/>
            <a:ext cx="1232034" cy="22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User / Admin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052751" y="1609617"/>
            <a:ext cx="1232034" cy="311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Interact via UI and admin panel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50944" y="1326272"/>
            <a:ext cx="1232034" cy="22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Backend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950944" y="1609617"/>
            <a:ext cx="1232034" cy="311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Node.js, Express.js, EJS templating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6119" y="4662488"/>
            <a:ext cx="8608963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Frontend, backend, and database layers work sequentially to render views, process requests, and store data in MongoDB Atlas.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01278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Advantages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336849"/>
            <a:ext cx="248022" cy="2480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739875"/>
            <a:ext cx="399834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Easy Online Shopping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96119" y="2008138"/>
            <a:ext cx="399834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Browse and buy with ease.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9465" y="1336849"/>
            <a:ext cx="248022" cy="24802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49465" y="1739875"/>
            <a:ext cx="39984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Secure Login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649465" y="2008138"/>
            <a:ext cx="399841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Accounts stay protected.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2454622"/>
            <a:ext cx="248022" cy="24802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2857649"/>
            <a:ext cx="399834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Responsive Website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96119" y="3125912"/>
            <a:ext cx="399834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Works on every device.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49465" y="2454622"/>
            <a:ext cx="248022" cy="24802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49465" y="2857649"/>
            <a:ext cx="39984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Premium Watch Collection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649465" y="3125912"/>
            <a:ext cx="399841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Explore 8 luxury brands.</a:t>
            </a:r>
            <a:endParaRPr lang="en-US" sz="9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6119" y="3572396"/>
            <a:ext cx="248022" cy="24802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6119" y="3975422"/>
            <a:ext cx="399834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Fast Product Management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496119" y="4243685"/>
            <a:ext cx="399834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Update products instantly.</a:t>
            </a:r>
            <a:endParaRPr lang="en-US" sz="9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49465" y="3572396"/>
            <a:ext cx="248022" cy="24802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649465" y="3975422"/>
            <a:ext cx="39984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Easy Navigation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4649465" y="4243685"/>
            <a:ext cx="399841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Find watches quickly.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39850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2206377"/>
            <a:ext cx="8151763" cy="14288"/>
          </a:xfrm>
          <a:prstGeom prst="roundRect">
            <a:avLst>
              <a:gd name="adj" fmla="val 59998"/>
            </a:avLst>
          </a:prstGeom>
          <a:solidFill>
            <a:srgbClr val="CFCBBF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96119" y="2391147"/>
            <a:ext cx="8151763" cy="1212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Sagil Kureshi</a:t>
            </a: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| BCA Semester 5</a:t>
            </a:r>
            <a:endParaRPr lang="en-US" sz="950" dirty="0"/>
          </a:p>
          <a:p>
            <a:pPr marL="0" indent="0" algn="ctr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dirty="0">
                <a:solidFill>
                  <a:srgbClr val="481C9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Royal Crown — E-Commerce Platform for Luxury Watches</a:t>
            </a:r>
            <a:endParaRPr lang="en-US" sz="950" dirty="0"/>
          </a:p>
          <a:p>
            <a:pPr marL="0" indent="0" algn="ctr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Guide: Prof. Nilesh Parghi</a:t>
            </a:r>
            <a:endParaRPr lang="en-US" sz="95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Kamani Science College &amp; Prataprai Arts College, Amreli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450</Words>
  <Application>Microsoft Office PowerPoint</Application>
  <PresentationFormat>On-screen Show (16:9)</PresentationFormat>
  <Paragraphs>113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Raleway Bold</vt:lpstr>
      <vt:lpstr>Prata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DELL</cp:lastModifiedBy>
  <cp:revision>6</cp:revision>
  <dcterms:created xsi:type="dcterms:W3CDTF">2026-07-17T13:07:31Z</dcterms:created>
  <dcterms:modified xsi:type="dcterms:W3CDTF">2026-07-17T13:38:05Z</dcterms:modified>
</cp:coreProperties>
</file>